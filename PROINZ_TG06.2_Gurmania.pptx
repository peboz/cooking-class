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7"/>
  </p:notesMasterIdLst>
  <p:sldIdLst>
    <p:sldId id="265" r:id="rId3"/>
    <p:sldId id="266" r:id="rId4"/>
    <p:sldId id="267" r:id="rId5"/>
    <p:sldId id="268" r:id="rId6"/>
    <p:sldId id="259" r:id="rId7"/>
    <p:sldId id="276" r:id="rId8"/>
    <p:sldId id="269" r:id="rId9"/>
    <p:sldId id="261" r:id="rId10"/>
    <p:sldId id="275" r:id="rId11"/>
    <p:sldId id="260" r:id="rId12"/>
    <p:sldId id="262" r:id="rId13"/>
    <p:sldId id="277" r:id="rId14"/>
    <p:sldId id="274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82" d="100"/>
          <a:sy n="82" d="100"/>
        </p:scale>
        <p:origin x="1426" y="7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olinarika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skillshare.com/en/?srsltid=AfmBOophN3Dgt0iQZGTBjCUrHbrCFW89QRxbQvFH8XpHrwz3jxwcM3PK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 err="1" smtClean="0"/>
              <a:t>Gurmania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 smtClean="0"/>
              <a:t>06.2 </a:t>
            </a:r>
            <a:r>
              <a:rPr lang="hr-HR" sz="1400" dirty="0" err="1" smtClean="0"/>
              <a:t>Gurmania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886000"/>
          </a:xfrm>
        </p:spPr>
        <p:txBody>
          <a:bodyPr/>
          <a:lstStyle/>
          <a:p>
            <a:r>
              <a:rPr lang="hr-HR" noProof="0" dirty="0"/>
              <a:t>Članovi </a:t>
            </a:r>
            <a:r>
              <a:rPr lang="hr-HR" dirty="0" smtClean="0"/>
              <a:t>tima</a:t>
            </a:r>
            <a:endParaRPr lang="hr-HR" noProof="0" dirty="0"/>
          </a:p>
          <a:p>
            <a:r>
              <a:rPr lang="hr-HR" dirty="0"/>
              <a:t>O</a:t>
            </a:r>
            <a:r>
              <a:rPr lang="hr-HR" noProof="0" dirty="0" smtClean="0"/>
              <a:t> projektu</a:t>
            </a:r>
            <a:endParaRPr lang="hr-HR" noProof="0" dirty="0"/>
          </a:p>
          <a:p>
            <a:r>
              <a:rPr lang="hr-HR" dirty="0"/>
              <a:t>Analiza i oblikovanje sustava	</a:t>
            </a:r>
          </a:p>
          <a:p>
            <a:pPr lvl="1"/>
            <a:r>
              <a:rPr lang="hr-HR" dirty="0"/>
              <a:t>Zahtjevi</a:t>
            </a:r>
          </a:p>
          <a:p>
            <a:pPr lvl="1"/>
            <a:r>
              <a:rPr lang="hr-HR" dirty="0"/>
              <a:t>Arhitektura</a:t>
            </a:r>
          </a:p>
          <a:p>
            <a:r>
              <a:rPr lang="hr-HR" dirty="0" smtClean="0"/>
              <a:t>Ispitivanje sustava</a:t>
            </a:r>
          </a:p>
          <a:p>
            <a:r>
              <a:rPr lang="hr-HR" dirty="0"/>
              <a:t>Korišteni alati i tehnologije</a:t>
            </a:r>
          </a:p>
          <a:p>
            <a:r>
              <a:rPr lang="hr-HR" noProof="0" dirty="0" smtClean="0"/>
              <a:t>Organizacija rada</a:t>
            </a:r>
          </a:p>
          <a:p>
            <a:r>
              <a:rPr lang="hr-HR" dirty="0"/>
              <a:t>Demonstracija aplikacije </a:t>
            </a:r>
            <a:endParaRPr lang="hr-HR" noProof="0" dirty="0"/>
          </a:p>
          <a:p>
            <a:r>
              <a:rPr lang="hr-HR" noProof="0" dirty="0" smtClean="0"/>
              <a:t>Zaključak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</a:t>
            </a:r>
            <a:r>
              <a:rPr lang="hr-HR" dirty="0" smtClean="0"/>
              <a:t>tima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Božanović</a:t>
            </a:r>
            <a:r>
              <a:rPr lang="hr-HR" dirty="0"/>
              <a:t>, Petar – voditelj tima, serverska strana, </a:t>
            </a:r>
            <a:r>
              <a:rPr lang="hr-HR" dirty="0" err="1"/>
              <a:t>DevOps</a:t>
            </a:r>
            <a:endParaRPr lang="hr-HR" dirty="0"/>
          </a:p>
          <a:p>
            <a:r>
              <a:rPr lang="hr-HR" dirty="0"/>
              <a:t>Barać, Lucija – poslužiteljska </a:t>
            </a:r>
            <a:r>
              <a:rPr lang="hr-HR" dirty="0" smtClean="0"/>
              <a:t>strana</a:t>
            </a:r>
          </a:p>
          <a:p>
            <a:r>
              <a:rPr lang="hr-HR" dirty="0"/>
              <a:t>Gale, Jelena – baza podataka </a:t>
            </a:r>
            <a:endParaRPr lang="hr-HR" dirty="0" smtClean="0"/>
          </a:p>
          <a:p>
            <a:r>
              <a:rPr lang="hr-HR" dirty="0"/>
              <a:t>Tadić, Sanja </a:t>
            </a:r>
            <a:r>
              <a:rPr lang="hr-HR" dirty="0" smtClean="0"/>
              <a:t>– dokumentacija, </a:t>
            </a:r>
            <a:r>
              <a:rPr lang="hr-HR" dirty="0"/>
              <a:t>serverska </a:t>
            </a:r>
            <a:r>
              <a:rPr lang="hr-HR" dirty="0" smtClean="0"/>
              <a:t>strana</a:t>
            </a:r>
          </a:p>
          <a:p>
            <a:r>
              <a:rPr lang="hr-HR" dirty="0"/>
              <a:t>Vidović, Ivana Nika – poslužiteljska </a:t>
            </a:r>
            <a:r>
              <a:rPr lang="hr-HR" dirty="0" smtClean="0"/>
              <a:t>strana</a:t>
            </a:r>
          </a:p>
          <a:p>
            <a:r>
              <a:rPr lang="hr-HR" dirty="0"/>
              <a:t>Vladimir, Tina - baza podataka</a:t>
            </a:r>
          </a:p>
          <a:p>
            <a:endParaRPr lang="hr-HR" dirty="0"/>
          </a:p>
          <a:p>
            <a:pPr marL="0" indent="0">
              <a:buNone/>
            </a:pPr>
            <a:endParaRPr lang="hr-HR" noProof="0" dirty="0" smtClean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hr-HR" dirty="0"/>
              <a:t>Pojednostavljivanje procesa učenja kuhanja tako da osobe svake razine sposobnosti mogu naučiti nešto </a:t>
            </a:r>
            <a:r>
              <a:rPr lang="hr-HR" dirty="0" smtClean="0"/>
              <a:t>novo</a:t>
            </a:r>
          </a:p>
          <a:p>
            <a:pPr lvl="0"/>
            <a:r>
              <a:rPr lang="hr-HR" dirty="0" smtClean="0"/>
              <a:t>Spoj </a:t>
            </a:r>
            <a:r>
              <a:rPr lang="hr-HR" dirty="0"/>
              <a:t>snimljenih predavanja, radionica uživo i dodatnih </a:t>
            </a:r>
            <a:r>
              <a:rPr lang="hr-HR" dirty="0" smtClean="0"/>
              <a:t>kvizova</a:t>
            </a:r>
          </a:p>
          <a:p>
            <a:r>
              <a:rPr lang="hr-HR" dirty="0" smtClean="0"/>
              <a:t>Cilj </a:t>
            </a:r>
            <a:r>
              <a:rPr lang="hr-HR" dirty="0"/>
              <a:t>projekta: približiti kuhanje javnosti</a:t>
            </a:r>
            <a:r>
              <a:rPr lang="hr-HR" altLang="sr-Latn-RS" dirty="0"/>
              <a:t> olakšavanjem procesa </a:t>
            </a:r>
            <a:r>
              <a:rPr lang="hr-HR" altLang="sr-Latn-RS" dirty="0" smtClean="0"/>
              <a:t>povezivanja </a:t>
            </a:r>
            <a:r>
              <a:rPr lang="hr-HR" altLang="sr-Latn-RS" dirty="0"/>
              <a:t>korisnika s instruktorima i stvaranje online zajednice </a:t>
            </a:r>
            <a:endParaRPr lang="hr-HR" altLang="sr-Latn-RS" dirty="0" smtClean="0"/>
          </a:p>
          <a:p>
            <a:r>
              <a:rPr lang="hr-HR" dirty="0"/>
              <a:t>Slične stranice</a:t>
            </a:r>
            <a:r>
              <a:rPr lang="hr-HR" dirty="0" smtClean="0"/>
              <a:t>: </a:t>
            </a:r>
            <a:r>
              <a:rPr lang="hr-HR" dirty="0" err="1" smtClean="0">
                <a:hlinkClick r:id="rId3"/>
              </a:rPr>
              <a:t>Coolinarika</a:t>
            </a:r>
            <a:r>
              <a:rPr lang="hr-HR" dirty="0" smtClean="0"/>
              <a:t>, </a:t>
            </a:r>
            <a:r>
              <a:rPr lang="hr-HR" dirty="0" err="1" smtClean="0">
                <a:hlinkClick r:id="rId4"/>
              </a:rPr>
              <a:t>Skillshare</a:t>
            </a:r>
            <a:endParaRPr lang="hr-HR" dirty="0"/>
          </a:p>
          <a:p>
            <a:pPr lvl="0"/>
            <a:endParaRPr lang="hr-HR" altLang="sr-Latn-RS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b="1" dirty="0"/>
              <a:t>Glavni funkcionalni </a:t>
            </a:r>
            <a:r>
              <a:rPr lang="hr-HR" b="1" dirty="0" smtClean="0"/>
              <a:t>zahtjevi</a:t>
            </a:r>
          </a:p>
          <a:p>
            <a:pPr lvl="1"/>
            <a:r>
              <a:rPr lang="hr-HR" dirty="0" err="1"/>
              <a:t>Autentifikacija</a:t>
            </a:r>
            <a:r>
              <a:rPr lang="hr-HR" dirty="0" smtClean="0"/>
              <a:t> </a:t>
            </a:r>
            <a:endParaRPr lang="hr-HR" dirty="0"/>
          </a:p>
          <a:p>
            <a:pPr lvl="1"/>
            <a:r>
              <a:rPr lang="hr-HR" dirty="0" smtClean="0"/>
              <a:t>Personalizacija</a:t>
            </a:r>
          </a:p>
          <a:p>
            <a:pPr lvl="1"/>
            <a:r>
              <a:rPr lang="hr-HR" dirty="0" smtClean="0"/>
              <a:t>CMS</a:t>
            </a:r>
          </a:p>
          <a:p>
            <a:pPr lvl="1"/>
            <a:r>
              <a:rPr lang="hr-HR" dirty="0"/>
              <a:t>Sustav je strukturiran u tečajeve, module i </a:t>
            </a:r>
            <a:r>
              <a:rPr lang="hr-HR" dirty="0" smtClean="0"/>
              <a:t>lekcije</a:t>
            </a:r>
          </a:p>
          <a:p>
            <a:pPr lvl="1"/>
            <a:r>
              <a:rPr lang="hr-HR" dirty="0"/>
              <a:t>Postavljanje recenzija i komentara</a:t>
            </a:r>
          </a:p>
          <a:p>
            <a:pPr lvl="1"/>
            <a:r>
              <a:rPr lang="hr-HR" dirty="0" smtClean="0"/>
              <a:t>Live radionice</a:t>
            </a:r>
          </a:p>
          <a:p>
            <a:pPr lvl="1"/>
            <a:r>
              <a:rPr lang="hr-HR" dirty="0" smtClean="0"/>
              <a:t>Administracija</a:t>
            </a:r>
          </a:p>
          <a:p>
            <a:pPr lvl="1"/>
            <a:endParaRPr lang="hr-HR" dirty="0"/>
          </a:p>
          <a:p>
            <a:pPr lvl="1"/>
            <a:endParaRPr lang="hr-HR" dirty="0" smtClean="0"/>
          </a:p>
          <a:p>
            <a:pPr lvl="1"/>
            <a:endParaRPr lang="hr-HR" dirty="0"/>
          </a:p>
          <a:p>
            <a:pPr marL="144000" lvl="1" indent="0">
              <a:buNone/>
            </a:pPr>
            <a:endParaRPr lang="hr-HR" noProof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Pregled zahtjeva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529038"/>
          </a:xfrm>
        </p:spPr>
        <p:txBody>
          <a:bodyPr>
            <a:normAutofit/>
          </a:bodyPr>
          <a:lstStyle/>
          <a:p>
            <a:pPr lvl="0"/>
            <a:r>
              <a:rPr lang="hr-HR" b="1" dirty="0" smtClean="0"/>
              <a:t>Nefunkcionalni </a:t>
            </a:r>
            <a:r>
              <a:rPr lang="hr-HR" b="1" dirty="0"/>
              <a:t>zahtjevi</a:t>
            </a:r>
            <a:r>
              <a:rPr lang="hr-HR" b="1" dirty="0" smtClean="0"/>
              <a:t>:</a:t>
            </a:r>
          </a:p>
          <a:p>
            <a:pPr lvl="1"/>
            <a:r>
              <a:rPr lang="hr-HR" dirty="0"/>
              <a:t>Održavanje - sustav mora biti jednostavan za održavanje i nadogradnju s jasnim uputama, platforma treba biti dostupna 24/7 uz iznimku planiranog </a:t>
            </a:r>
            <a:r>
              <a:rPr lang="hr-HR" dirty="0" smtClean="0"/>
              <a:t>održavanja</a:t>
            </a:r>
          </a:p>
          <a:p>
            <a:pPr lvl="1"/>
            <a:r>
              <a:rPr lang="hr-HR" dirty="0"/>
              <a:t>Sigurnost - korisnički podaci trebaju biti pohranjeni na sigurnoj lokaciji koja podatke štiti enkripcijom u prijenosu (TLS) i mirovanju, sustav mora koristiti </a:t>
            </a:r>
            <a:r>
              <a:rPr lang="hr-HR" dirty="0" err="1"/>
              <a:t>OAuth</a:t>
            </a:r>
            <a:r>
              <a:rPr lang="hr-HR" dirty="0"/>
              <a:t> 2.0 </a:t>
            </a:r>
            <a:endParaRPr lang="hr-HR" dirty="0" smtClean="0"/>
          </a:p>
          <a:p>
            <a:pPr lvl="1"/>
            <a:r>
              <a:rPr lang="hr-HR" dirty="0"/>
              <a:t>Performanse - prijava u sustav koja ne traje duže od 3 </a:t>
            </a:r>
            <a:r>
              <a:rPr lang="hr-HR" dirty="0" smtClean="0"/>
              <a:t>sekunde</a:t>
            </a:r>
          </a:p>
          <a:p>
            <a:pPr lvl="1"/>
            <a:r>
              <a:rPr lang="hr-HR" dirty="0"/>
              <a:t>Upotrebljivost - aplikacija mora biti </a:t>
            </a:r>
            <a:r>
              <a:rPr lang="hr-HR" dirty="0" err="1"/>
              <a:t>responzivna</a:t>
            </a:r>
            <a:r>
              <a:rPr lang="hr-HR" dirty="0"/>
              <a:t> i prilagođena različitim veličinama ekrana, korisničko sučelje mora biti intuitivno i lako za korištenje</a:t>
            </a:r>
          </a:p>
          <a:p>
            <a:pPr marL="144000" lvl="1" indent="0">
              <a:buNone/>
            </a:pP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2960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 smtClean="0"/>
              <a:t>UML dijagram obrazaca uporabe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5927585" cy="501862"/>
          </a:xfrm>
        </p:spPr>
        <p:txBody>
          <a:bodyPr/>
          <a:lstStyle/>
          <a:p>
            <a:r>
              <a:rPr lang="hr-HR" noProof="0" dirty="0"/>
              <a:t>Dijagram </a:t>
            </a:r>
            <a:r>
              <a:rPr lang="hr-HR" dirty="0" smtClean="0"/>
              <a:t>osnovne funkcionalnosti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923" y="1377517"/>
            <a:ext cx="5538258" cy="529928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 txBox="1">
            <a:spLocks/>
          </p:cNvSpPr>
          <p:nvPr/>
        </p:nvSpPr>
        <p:spPr>
          <a:xfrm>
            <a:off x="71999" y="1000321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 smtClean="0"/>
              <a:t>Instruktor</a:t>
            </a:r>
            <a:endParaRPr lang="hr-H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 txBox="1">
            <a:spLocks/>
          </p:cNvSpPr>
          <p:nvPr/>
        </p:nvSpPr>
        <p:spPr>
          <a:xfrm>
            <a:off x="71999" y="98265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 smtClean="0"/>
              <a:t>Student</a:t>
            </a:r>
            <a:endParaRPr lang="hr-H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 txBox="1">
            <a:spLocks/>
          </p:cNvSpPr>
          <p:nvPr/>
        </p:nvSpPr>
        <p:spPr>
          <a:xfrm>
            <a:off x="71999" y="991486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 smtClean="0"/>
              <a:t>Administrator</a:t>
            </a:r>
            <a:endParaRPr lang="hr-HR" dirty="0"/>
          </a:p>
        </p:txBody>
      </p:sp>
      <p:pic>
        <p:nvPicPr>
          <p:cNvPr id="10" name="Slika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69" y="1407560"/>
            <a:ext cx="6063260" cy="5369957"/>
          </a:xfrm>
          <a:prstGeom prst="rect">
            <a:avLst/>
          </a:prstGeom>
        </p:spPr>
      </p:pic>
      <p:pic>
        <p:nvPicPr>
          <p:cNvPr id="11" name="Slika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003" y="1407560"/>
            <a:ext cx="6390626" cy="5338432"/>
          </a:xfrm>
          <a:prstGeom prst="rect">
            <a:avLst/>
          </a:prstGeom>
        </p:spPr>
      </p:pic>
      <p:pic>
        <p:nvPicPr>
          <p:cNvPr id="12" name="Slika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61" y="1511201"/>
            <a:ext cx="7186283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3" build="p"/>
      <p:bldP spid="6" grpId="0"/>
      <p:bldP spid="6" grpId="1"/>
      <p:bldP spid="7" grpId="0"/>
      <p:bldP spid="7" grpId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 err="1"/>
              <a:t>F</a:t>
            </a:r>
            <a:r>
              <a:rPr lang="hr-HR" dirty="0" err="1" smtClean="0"/>
              <a:t>ull-stack</a:t>
            </a:r>
            <a:r>
              <a:rPr lang="hr-HR" dirty="0" smtClean="0"/>
              <a:t> </a:t>
            </a:r>
            <a:r>
              <a:rPr lang="hr-HR" dirty="0"/>
              <a:t>web aplikacija bazirana na Next.js 16 </a:t>
            </a:r>
            <a:r>
              <a:rPr lang="hr-HR" dirty="0" err="1"/>
              <a:t>frameworku</a:t>
            </a:r>
            <a:r>
              <a:rPr lang="hr-HR" dirty="0"/>
              <a:t> </a:t>
            </a:r>
            <a:r>
              <a:rPr lang="hr-HR" dirty="0" smtClean="0"/>
              <a:t>(SSR, CSR </a:t>
            </a:r>
            <a:r>
              <a:rPr lang="hr-HR" dirty="0"/>
              <a:t>i </a:t>
            </a:r>
            <a:r>
              <a:rPr lang="hr-HR" dirty="0" err="1"/>
              <a:t>serverless</a:t>
            </a:r>
            <a:r>
              <a:rPr lang="hr-HR" dirty="0"/>
              <a:t> </a:t>
            </a:r>
            <a:r>
              <a:rPr lang="hr-HR" dirty="0" smtClean="0"/>
              <a:t>funkcionalnost)</a:t>
            </a:r>
          </a:p>
          <a:p>
            <a:r>
              <a:rPr lang="hr-HR" dirty="0" smtClean="0"/>
              <a:t>Klijentska </a:t>
            </a:r>
            <a:r>
              <a:rPr lang="hr-HR" dirty="0"/>
              <a:t>strana</a:t>
            </a:r>
          </a:p>
          <a:p>
            <a:pPr lvl="1"/>
            <a:r>
              <a:rPr lang="hr-HR" dirty="0" err="1"/>
              <a:t>React</a:t>
            </a:r>
            <a:r>
              <a:rPr lang="hr-HR" dirty="0"/>
              <a:t> komponente koje se izvršavaju u pregledniku korisnika</a:t>
            </a:r>
          </a:p>
          <a:p>
            <a:pPr lvl="1"/>
            <a:r>
              <a:rPr lang="hr-HR" dirty="0"/>
              <a:t>Interaktivne UI komponente za upravljanje korisničkim akcijama </a:t>
            </a:r>
          </a:p>
          <a:p>
            <a:pPr lvl="1"/>
            <a:r>
              <a:rPr lang="hr-HR" dirty="0" err="1"/>
              <a:t>Client</a:t>
            </a:r>
            <a:r>
              <a:rPr lang="hr-HR" dirty="0"/>
              <a:t> </a:t>
            </a:r>
            <a:r>
              <a:rPr lang="hr-HR" dirty="0" err="1"/>
              <a:t>Components</a:t>
            </a:r>
            <a:r>
              <a:rPr lang="hr-HR" dirty="0"/>
              <a:t> za dinamičke dijelove aplikacije </a:t>
            </a:r>
            <a:endParaRPr lang="hr-HR" dirty="0" smtClean="0"/>
          </a:p>
          <a:p>
            <a:pPr lvl="1"/>
            <a:r>
              <a:rPr lang="hr-HR" dirty="0" smtClean="0"/>
              <a:t>State </a:t>
            </a:r>
            <a:r>
              <a:rPr lang="hr-HR" dirty="0"/>
              <a:t>management putem </a:t>
            </a:r>
            <a:r>
              <a:rPr lang="hr-HR" dirty="0" err="1"/>
              <a:t>React</a:t>
            </a:r>
            <a:r>
              <a:rPr lang="hr-HR" dirty="0"/>
              <a:t> </a:t>
            </a:r>
            <a:r>
              <a:rPr lang="hr-HR" dirty="0" err="1" smtClean="0"/>
              <a:t>hooks</a:t>
            </a:r>
            <a:endParaRPr lang="hr-HR" dirty="0" smtClean="0"/>
          </a:p>
          <a:p>
            <a:r>
              <a:rPr lang="hr-HR" dirty="0" smtClean="0"/>
              <a:t>Poslužiteljska strana</a:t>
            </a:r>
          </a:p>
          <a:p>
            <a:pPr lvl="1"/>
            <a:r>
              <a:rPr lang="hr-HR" dirty="0"/>
              <a:t>Next.js App </a:t>
            </a:r>
            <a:r>
              <a:rPr lang="hr-HR" dirty="0" err="1"/>
              <a:t>Router</a:t>
            </a:r>
            <a:r>
              <a:rPr lang="hr-HR" dirty="0"/>
              <a:t> -</a:t>
            </a:r>
            <a:r>
              <a:rPr lang="hr-HR" dirty="0" smtClean="0"/>
              <a:t> </a:t>
            </a:r>
            <a:r>
              <a:rPr lang="hr-HR" dirty="0"/>
              <a:t>omogućuje </a:t>
            </a:r>
            <a:r>
              <a:rPr lang="hr-HR" dirty="0" err="1"/>
              <a:t>routing</a:t>
            </a:r>
            <a:r>
              <a:rPr lang="hr-HR" dirty="0"/>
              <a:t> i Server </a:t>
            </a:r>
            <a:r>
              <a:rPr lang="hr-HR" dirty="0" err="1" smtClean="0"/>
              <a:t>Components</a:t>
            </a:r>
            <a:endParaRPr lang="hr-HR" dirty="0" smtClean="0"/>
          </a:p>
          <a:p>
            <a:pPr lvl="1"/>
            <a:r>
              <a:rPr lang="hr-HR" dirty="0"/>
              <a:t>Server </a:t>
            </a:r>
            <a:r>
              <a:rPr lang="hr-HR" dirty="0" err="1"/>
              <a:t>Actions</a:t>
            </a:r>
            <a:r>
              <a:rPr lang="hr-HR" dirty="0"/>
              <a:t> - </a:t>
            </a:r>
            <a:r>
              <a:rPr lang="hr-HR" dirty="0" err="1"/>
              <a:t>serverless</a:t>
            </a:r>
            <a:r>
              <a:rPr lang="hr-HR" dirty="0"/>
              <a:t> funkcije za obradu poslovne </a:t>
            </a:r>
            <a:r>
              <a:rPr lang="hr-HR" dirty="0" smtClean="0"/>
              <a:t>logike</a:t>
            </a:r>
          </a:p>
          <a:p>
            <a:pPr lvl="1"/>
            <a:r>
              <a:rPr lang="hr-HR" dirty="0" smtClean="0"/>
              <a:t>API </a:t>
            </a:r>
            <a:r>
              <a:rPr lang="hr-HR" dirty="0" err="1" smtClean="0"/>
              <a:t>routes</a:t>
            </a:r>
            <a:r>
              <a:rPr lang="hr-HR" dirty="0"/>
              <a:t> -za </a:t>
            </a:r>
            <a:r>
              <a:rPr lang="hr-HR" dirty="0" err="1"/>
              <a:t>RESTful</a:t>
            </a:r>
            <a:r>
              <a:rPr lang="hr-HR" dirty="0"/>
              <a:t> </a:t>
            </a:r>
            <a:r>
              <a:rPr lang="hr-HR" dirty="0" err="1"/>
              <a:t>endpoints</a:t>
            </a:r>
            <a:r>
              <a:rPr lang="hr-HR" dirty="0"/>
              <a:t> dostupne eksternim klijentima</a:t>
            </a:r>
            <a:endParaRPr lang="hr-HR" dirty="0" smtClean="0"/>
          </a:p>
          <a:p>
            <a:pPr lvl="1"/>
            <a:r>
              <a:rPr lang="hr-HR" dirty="0" smtClean="0"/>
              <a:t>Proxy - </a:t>
            </a:r>
            <a:r>
              <a:rPr lang="hr-HR" dirty="0" err="1" smtClean="0"/>
              <a:t>autentifikacija</a:t>
            </a:r>
            <a:r>
              <a:rPr lang="hr-HR" dirty="0" smtClean="0"/>
              <a:t>, autorizacija </a:t>
            </a:r>
            <a:r>
              <a:rPr lang="hr-HR" dirty="0"/>
              <a:t>i rate </a:t>
            </a:r>
            <a:r>
              <a:rPr lang="hr-HR" dirty="0" err="1" smtClean="0"/>
              <a:t>limiting</a:t>
            </a:r>
            <a:endParaRPr lang="hr-HR" dirty="0" smtClean="0"/>
          </a:p>
          <a:p>
            <a:pPr lvl="1"/>
            <a:r>
              <a:rPr lang="hr-HR" dirty="0" smtClean="0"/>
              <a:t>RSC </a:t>
            </a:r>
            <a:r>
              <a:rPr lang="hr-HR" dirty="0"/>
              <a:t>- komponente koje se renderiraju isključivo na </a:t>
            </a:r>
            <a:r>
              <a:rPr lang="hr-HR" dirty="0" smtClean="0"/>
              <a:t>poslužitelju</a:t>
            </a:r>
          </a:p>
          <a:p>
            <a:pPr lvl="1"/>
            <a:endParaRPr lang="hr-HR" dirty="0" smtClean="0"/>
          </a:p>
          <a:p>
            <a:pPr marL="144000" lvl="1" indent="0">
              <a:buNone/>
            </a:pPr>
            <a:endParaRPr lang="hr-HR" dirty="0" smtClean="0"/>
          </a:p>
          <a:p>
            <a:pPr marL="144000" lvl="1" indent="0">
              <a:buNone/>
            </a:pPr>
            <a:endParaRPr lang="hr-HR" dirty="0" smtClean="0"/>
          </a:p>
          <a:p>
            <a:pPr lvl="1"/>
            <a:endParaRPr lang="hr-HR" dirty="0" smtClean="0"/>
          </a:p>
          <a:p>
            <a:endParaRPr lang="hr-HR" dirty="0" smtClean="0"/>
          </a:p>
          <a:p>
            <a:endParaRPr lang="hr-HR" dirty="0" smtClean="0"/>
          </a:p>
          <a:p>
            <a:pPr lvl="1"/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70" y="1260708"/>
            <a:ext cx="8675057" cy="49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 smtClean="0"/>
              <a:t>Ispitivanje sustava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1. Registracija </a:t>
            </a:r>
            <a:r>
              <a:rPr lang="hr-HR" dirty="0"/>
              <a:t>novog korisnika - kompletan </a:t>
            </a:r>
            <a:r>
              <a:rPr lang="hr-HR" dirty="0" err="1" smtClean="0"/>
              <a:t>flow</a:t>
            </a:r>
            <a:endParaRPr lang="hr-HR" dirty="0" smtClean="0"/>
          </a:p>
          <a:p>
            <a:r>
              <a:rPr lang="hr-HR" dirty="0"/>
              <a:t>2</a:t>
            </a:r>
            <a:r>
              <a:rPr lang="hr-HR" dirty="0" smtClean="0"/>
              <a:t>. </a:t>
            </a:r>
            <a:r>
              <a:rPr lang="hr-HR" dirty="0"/>
              <a:t>Upis na tečaj - </a:t>
            </a:r>
            <a:r>
              <a:rPr lang="hr-HR" dirty="0" err="1"/>
              <a:t>enrollment</a:t>
            </a:r>
            <a:r>
              <a:rPr lang="hr-HR" dirty="0"/>
              <a:t> </a:t>
            </a:r>
            <a:r>
              <a:rPr lang="hr-HR" dirty="0" err="1" smtClean="0"/>
              <a:t>flow</a:t>
            </a:r>
            <a:endParaRPr lang="hr-HR" dirty="0" smtClean="0"/>
          </a:p>
          <a:p>
            <a:r>
              <a:rPr lang="hr-HR" dirty="0" smtClean="0"/>
              <a:t>3.</a:t>
            </a:r>
            <a:r>
              <a:rPr lang="pt-BR" dirty="0"/>
              <a:t> Admin moderacija komentara - E2E flow</a:t>
            </a:r>
          </a:p>
          <a:p>
            <a:r>
              <a:rPr lang="hr-HR" dirty="0" smtClean="0"/>
              <a:t>4. Zahtjev </a:t>
            </a:r>
            <a:r>
              <a:rPr lang="hr-HR" dirty="0"/>
              <a:t>za verifikaciju </a:t>
            </a:r>
            <a:r>
              <a:rPr lang="hr-HR" dirty="0" smtClean="0"/>
              <a:t>instruktora</a:t>
            </a:r>
          </a:p>
          <a:p>
            <a:r>
              <a:rPr lang="hr-HR" dirty="0" smtClean="0"/>
              <a:t>Rezultati ispitivanja sustava:</a:t>
            </a:r>
          </a:p>
          <a:p>
            <a:pPr lvl="1"/>
            <a:r>
              <a:rPr lang="hr-HR" dirty="0" smtClean="0"/>
              <a:t>Ukupno E2E testova: 15</a:t>
            </a:r>
          </a:p>
          <a:p>
            <a:pPr lvl="1"/>
            <a:r>
              <a:rPr lang="hr-HR" dirty="0" smtClean="0"/>
              <a:t>Uspješno izvršenih: 15 (100%)</a:t>
            </a:r>
          </a:p>
          <a:p>
            <a:pPr lvl="1"/>
            <a:r>
              <a:rPr lang="hr-HR" dirty="0" smtClean="0"/>
              <a:t>Neuspješnih: 0</a:t>
            </a:r>
          </a:p>
          <a:p>
            <a:pPr lvl="1"/>
            <a:r>
              <a:rPr lang="hr-HR" dirty="0"/>
              <a:t>Alat: </a:t>
            </a:r>
            <a:r>
              <a:rPr lang="hr-HR" dirty="0" err="1"/>
              <a:t>Playwright</a:t>
            </a:r>
            <a:r>
              <a:rPr lang="hr-HR" dirty="0"/>
              <a:t> (</a:t>
            </a:r>
            <a:r>
              <a:rPr lang="hr-HR" dirty="0" err="1"/>
              <a:t>Chromium</a:t>
            </a:r>
            <a:r>
              <a:rPr lang="hr-HR" dirty="0"/>
              <a:t> browser)</a:t>
            </a:r>
            <a:endParaRPr lang="hr-HR" dirty="0" smtClean="0"/>
          </a:p>
          <a:p>
            <a:pPr lvl="1"/>
            <a:endParaRPr lang="hr-HR" dirty="0"/>
          </a:p>
          <a:p>
            <a:endParaRPr lang="hr-HR" b="1" dirty="0"/>
          </a:p>
          <a:p>
            <a:endParaRPr lang="hr-HR" b="1" dirty="0"/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 smtClean="0"/>
              <a:t>Programski </a:t>
            </a:r>
            <a:r>
              <a:rPr lang="hr-HR" dirty="0"/>
              <a:t>jezici: </a:t>
            </a:r>
            <a:r>
              <a:rPr lang="hr-HR" dirty="0" err="1"/>
              <a:t>Typescript</a:t>
            </a:r>
            <a:endParaRPr lang="hr-HR" dirty="0"/>
          </a:p>
          <a:p>
            <a:r>
              <a:rPr lang="hr-HR" dirty="0"/>
              <a:t>Radni okviri i biblioteke: Next.js, NextAuth.js, </a:t>
            </a:r>
            <a:r>
              <a:rPr lang="hr-HR" dirty="0" err="1"/>
              <a:t>Tailwind</a:t>
            </a:r>
            <a:r>
              <a:rPr lang="hr-HR" dirty="0"/>
              <a:t> CSS, </a:t>
            </a:r>
            <a:r>
              <a:rPr lang="hr-HR" dirty="0" err="1"/>
              <a:t>Framer</a:t>
            </a:r>
            <a:r>
              <a:rPr lang="hr-HR" dirty="0"/>
              <a:t> </a:t>
            </a:r>
            <a:r>
              <a:rPr lang="hr-HR" dirty="0" err="1"/>
              <a:t>Motion</a:t>
            </a:r>
            <a:r>
              <a:rPr lang="hr-HR" dirty="0"/>
              <a:t>, </a:t>
            </a:r>
            <a:r>
              <a:rPr lang="hr-HR" dirty="0" err="1"/>
              <a:t>Lucide</a:t>
            </a:r>
            <a:r>
              <a:rPr lang="hr-HR" dirty="0"/>
              <a:t> </a:t>
            </a:r>
            <a:r>
              <a:rPr lang="hr-HR" dirty="0" err="1"/>
              <a:t>React</a:t>
            </a:r>
            <a:endParaRPr lang="hr-HR" dirty="0"/>
          </a:p>
          <a:p>
            <a:r>
              <a:rPr lang="hr-HR" dirty="0"/>
              <a:t>Baza podataka: </a:t>
            </a:r>
            <a:r>
              <a:rPr lang="hr-HR" dirty="0" err="1"/>
              <a:t>PostgreSQL</a:t>
            </a:r>
            <a:r>
              <a:rPr lang="hr-HR" dirty="0"/>
              <a:t>, </a:t>
            </a:r>
            <a:r>
              <a:rPr lang="hr-HR" dirty="0" err="1"/>
              <a:t>Prisma</a:t>
            </a:r>
            <a:r>
              <a:rPr lang="hr-HR" dirty="0"/>
              <a:t> ORM</a:t>
            </a:r>
          </a:p>
          <a:p>
            <a:r>
              <a:rPr lang="hr-HR" dirty="0"/>
              <a:t>Razvojni alati: </a:t>
            </a:r>
            <a:r>
              <a:rPr lang="hr-HR" dirty="0" err="1"/>
              <a:t>Visual</a:t>
            </a:r>
            <a:r>
              <a:rPr lang="hr-HR" dirty="0"/>
              <a:t> Studio </a:t>
            </a:r>
            <a:r>
              <a:rPr lang="hr-HR" dirty="0" err="1"/>
              <a:t>Code</a:t>
            </a:r>
            <a:endParaRPr lang="hr-HR" dirty="0"/>
          </a:p>
          <a:p>
            <a:r>
              <a:rPr lang="hr-HR" dirty="0"/>
              <a:t>Ispitivanje: </a:t>
            </a:r>
            <a:r>
              <a:rPr lang="hr-HR" dirty="0" err="1" smtClean="0"/>
              <a:t>Vitest</a:t>
            </a:r>
            <a:r>
              <a:rPr lang="hr-HR" dirty="0" smtClean="0"/>
              <a:t> </a:t>
            </a:r>
            <a:r>
              <a:rPr lang="hr-HR" dirty="0"/>
              <a:t>4.0.17</a:t>
            </a:r>
            <a:r>
              <a:rPr lang="hr-HR" dirty="0" smtClean="0"/>
              <a:t>, </a:t>
            </a:r>
            <a:r>
              <a:rPr lang="hr-HR" dirty="0" err="1"/>
              <a:t>Playwright</a:t>
            </a:r>
            <a:r>
              <a:rPr lang="hr-HR" dirty="0"/>
              <a:t>, </a:t>
            </a:r>
            <a:r>
              <a:rPr lang="hr-HR" dirty="0" err="1"/>
              <a:t>React</a:t>
            </a:r>
            <a:r>
              <a:rPr lang="hr-HR" dirty="0"/>
              <a:t> </a:t>
            </a:r>
            <a:r>
              <a:rPr lang="hr-HR" dirty="0" err="1"/>
              <a:t>Testing</a:t>
            </a:r>
            <a:r>
              <a:rPr lang="hr-HR" dirty="0"/>
              <a:t> </a:t>
            </a:r>
            <a:r>
              <a:rPr lang="hr-HR" dirty="0" err="1"/>
              <a:t>Library</a:t>
            </a:r>
            <a:r>
              <a:rPr lang="hr-HR" dirty="0"/>
              <a:t>, </a:t>
            </a:r>
            <a:r>
              <a:rPr lang="hr-HR" dirty="0" err="1"/>
              <a:t>Prisma</a:t>
            </a:r>
            <a:r>
              <a:rPr lang="hr-HR" dirty="0"/>
              <a:t> </a:t>
            </a:r>
            <a:r>
              <a:rPr lang="hr-HR" dirty="0" err="1"/>
              <a:t>Mock</a:t>
            </a:r>
            <a:endParaRPr lang="hr-HR" dirty="0"/>
          </a:p>
          <a:p>
            <a:r>
              <a:rPr lang="hr-HR" dirty="0"/>
              <a:t>Alati za razmještaj: </a:t>
            </a:r>
            <a:r>
              <a:rPr lang="hr-HR" dirty="0" err="1"/>
              <a:t>Docker</a:t>
            </a:r>
            <a:endParaRPr lang="hr-HR" dirty="0"/>
          </a:p>
          <a:p>
            <a:r>
              <a:rPr lang="hr-HR" dirty="0" err="1"/>
              <a:t>Cloud</a:t>
            </a:r>
            <a:r>
              <a:rPr lang="hr-HR" dirty="0"/>
              <a:t> platforma: VPS u okviru </a:t>
            </a:r>
            <a:r>
              <a:rPr lang="hr-HR" dirty="0" err="1"/>
              <a:t>Infrastructure</a:t>
            </a:r>
            <a:r>
              <a:rPr lang="hr-HR" dirty="0"/>
              <a:t> as a Service (</a:t>
            </a:r>
            <a:r>
              <a:rPr lang="hr-HR" dirty="0" err="1"/>
              <a:t>IaaS</a:t>
            </a:r>
            <a:r>
              <a:rPr lang="hr-HR" dirty="0"/>
              <a:t>) </a:t>
            </a:r>
          </a:p>
          <a:p>
            <a:endParaRPr lang="hr-HR" dirty="0"/>
          </a:p>
          <a:p>
            <a:pPr marL="1440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Neprogramski (organizacijski) zadaci</a:t>
            </a:r>
          </a:p>
          <a:p>
            <a:pPr lvl="1"/>
            <a:r>
              <a:rPr lang="hr-HR" dirty="0"/>
              <a:t>Dogovaranje putem </a:t>
            </a:r>
            <a:r>
              <a:rPr lang="hr-HR" dirty="0" err="1"/>
              <a:t>Whatsapp</a:t>
            </a:r>
            <a:r>
              <a:rPr lang="hr-HR" dirty="0"/>
              <a:t> </a:t>
            </a:r>
            <a:r>
              <a:rPr lang="hr-HR" dirty="0" smtClean="0"/>
              <a:t>grupe i na sastancima uživo, tablice zadataka i problema</a:t>
            </a:r>
            <a:endParaRPr lang="hr-HR" dirty="0"/>
          </a:p>
          <a:p>
            <a:pPr lvl="1"/>
            <a:r>
              <a:rPr lang="hr-HR" dirty="0" err="1" smtClean="0"/>
              <a:t>Github</a:t>
            </a:r>
            <a:endParaRPr lang="hr-HR" dirty="0"/>
          </a:p>
          <a:p>
            <a:pPr marL="144000" lvl="1" indent="0">
              <a:buNone/>
            </a:pPr>
            <a:endParaRPr lang="hr-HR" dirty="0"/>
          </a:p>
          <a:p>
            <a:pPr lvl="1"/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0" y="2853933"/>
            <a:ext cx="8245469" cy="351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Organizacija rada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736" y="972000"/>
            <a:ext cx="4662526" cy="550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2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r-HR" sz="2400" dirty="0" smtClean="0"/>
              <a:t>Projekt </a:t>
            </a:r>
            <a:r>
              <a:rPr lang="hr-HR" sz="2400" dirty="0"/>
              <a:t>je realiziran unutar zadanog vremenskog okvira, uz postupno definiranje funkcionalnosti i prilagodbu </a:t>
            </a:r>
            <a:r>
              <a:rPr lang="hr-HR" sz="2400" dirty="0" smtClean="0"/>
              <a:t>rješenja</a:t>
            </a:r>
          </a:p>
          <a:p>
            <a:pPr lvl="1"/>
            <a:r>
              <a:rPr lang="hr-HR" sz="2400" dirty="0"/>
              <a:t>Izazovi</a:t>
            </a:r>
            <a:r>
              <a:rPr lang="hr-HR" sz="2400" dirty="0" smtClean="0"/>
              <a:t>:</a:t>
            </a:r>
          </a:p>
          <a:p>
            <a:pPr lvl="2"/>
            <a:r>
              <a:rPr lang="hr-HR" sz="2000" dirty="0"/>
              <a:t>Tehnički: pravilna organizacija aplikacijske logike, povezivanje sučelja s poslužiteljskom stranom </a:t>
            </a:r>
            <a:r>
              <a:rPr lang="hr-HR" sz="2000" dirty="0" smtClean="0"/>
              <a:t>aplikacije</a:t>
            </a:r>
          </a:p>
          <a:p>
            <a:pPr lvl="2"/>
            <a:r>
              <a:rPr lang="hr-HR" sz="2000" dirty="0"/>
              <a:t>Nedovoljno prethodno iskustvo članova tima </a:t>
            </a:r>
            <a:r>
              <a:rPr lang="pl-PL" sz="2000" dirty="0"/>
              <a:t>u radu s korištenim alatima i tehnologijama</a:t>
            </a:r>
            <a:endParaRPr lang="hr-HR" sz="2000" dirty="0"/>
          </a:p>
          <a:p>
            <a:pPr lvl="2"/>
            <a:endParaRPr lang="hr-HR" dirty="0"/>
          </a:p>
          <a:p>
            <a:pPr lvl="1"/>
            <a:r>
              <a:rPr lang="hr-HR" sz="2400" dirty="0" smtClean="0"/>
              <a:t>Izazovi </a:t>
            </a:r>
            <a:r>
              <a:rPr lang="hr-HR" sz="2400" dirty="0"/>
              <a:t>su </a:t>
            </a:r>
            <a:r>
              <a:rPr lang="hr-HR" sz="2400" dirty="0" smtClean="0"/>
              <a:t>nadvladani </a:t>
            </a:r>
            <a:r>
              <a:rPr lang="hr-HR" sz="2400" dirty="0"/>
              <a:t>dodatnim učenjem osnovnih funkcionalnosti alata i odličnom suradnjom unutar grupe </a:t>
            </a: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1941</TotalTime>
  <Words>572</Words>
  <Application>Microsoft Office PowerPoint</Application>
  <PresentationFormat>Prikaz na zaslonu (4:3)</PresentationFormat>
  <Paragraphs>120</Paragraphs>
  <Slides>14</Slides>
  <Notes>4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14</vt:i4>
      </vt:variant>
    </vt:vector>
  </HeadingPairs>
  <TitlesOfParts>
    <vt:vector size="28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Gurmania</vt:lpstr>
      <vt:lpstr>Sadržaj</vt:lpstr>
      <vt:lpstr>Članovi tima</vt:lpstr>
      <vt:lpstr>O projektu</vt:lpstr>
      <vt:lpstr>Pregled zahtjeva</vt:lpstr>
      <vt:lpstr>Pregled zahtjeva</vt:lpstr>
      <vt:lpstr>UML dijagram obrazaca uporabe</vt:lpstr>
      <vt:lpstr>Arhitektura sustava</vt:lpstr>
      <vt:lpstr>Ispitivanje sustava</vt:lpstr>
      <vt:lpstr>Korišteni alati i tehnologije</vt:lpstr>
      <vt:lpstr>Organizacija rada</vt:lpstr>
      <vt:lpstr>Organizacija rada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Lucija Barać</cp:lastModifiedBy>
  <cp:revision>76</cp:revision>
  <dcterms:created xsi:type="dcterms:W3CDTF">2016-01-18T13:10:52Z</dcterms:created>
  <dcterms:modified xsi:type="dcterms:W3CDTF">2026-01-23T11:35:09Z</dcterms:modified>
</cp:coreProperties>
</file>